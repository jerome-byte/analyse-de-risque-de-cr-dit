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72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C9A4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RAPPORT DE PROJET · DATA SCIENCE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1036179"/>
            <a:ext cx="8629650" cy="1425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98"/>
              </a:lnSpc>
              <a:buNone/>
            </a:pPr>
            <a:r>
              <a:rPr lang="en-US" sz="4725" b="1" kern="0" spc="-47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Modèle de</a:t>
            </a:r>
            <a:endParaRPr lang="en-US" sz="4725" dirty="0"/>
          </a:p>
          <a:p>
            <a:pPr marL="0" indent="0" algn="l">
              <a:lnSpc>
                <a:spcPts val="5198"/>
              </a:lnSpc>
              <a:buNone/>
            </a:pPr>
            <a:r>
              <a:rPr lang="en-US" sz="4725" b="1" kern="0" spc="-47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Scoring Crédit</a:t>
            </a:r>
            <a:endParaRPr lang="en-US" sz="4725" dirty="0"/>
          </a:p>
        </p:txBody>
      </p:sp>
      <p:sp>
        <p:nvSpPr>
          <p:cNvPr id="5" name="Text 3"/>
          <p:cNvSpPr/>
          <p:nvPr/>
        </p:nvSpPr>
        <p:spPr>
          <a:xfrm>
            <a:off x="514350" y="2527660"/>
            <a:ext cx="557212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E8E2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Prédire le risque de défaut de paiement</a:t>
            </a:r>
            <a:endParaRPr lang="en-US" sz="1238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E8E2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à partir des données de demandes de prêt.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664369" y="3256322"/>
            <a:ext cx="3564731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kern="0" spc="88" dirty="0">
                <a:solidFill>
                  <a:srgbClr val="C9A4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AUTEUR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4369" y="3443064"/>
            <a:ext cx="3564731" cy="2003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6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AKOTA Yao Jérôme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64369" y="3670883"/>
            <a:ext cx="3564731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AA8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Destinataire : Banque Ouest Africaine de Développement (BOAD)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14350" y="4131320"/>
            <a:ext cx="8115300" cy="0"/>
          </a:xfrm>
          <a:prstGeom prst="line">
            <a:avLst/>
          </a:prstGeom>
          <a:noFill/>
          <a:ln w="7144">
            <a:solidFill>
              <a:srgbClr val="C9A4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4306342"/>
            <a:ext cx="7550274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kern="0" spc="68" dirty="0">
                <a:solidFill>
                  <a:srgbClr val="9AA8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ZONE UEMOA · 1 000 DEMANDES SYNTHÉTIQUES</a:t>
            </a:r>
            <a:endParaRPr lang="en-US" sz="800" dirty="0"/>
          </a:p>
          <a:p>
            <a:pPr marL="0" indent="0" algn="l">
              <a:lnSpc>
                <a:spcPts val="1046"/>
              </a:lnSpc>
              <a:buNone/>
            </a:pPr>
            <a:r>
              <a:rPr lang="en-US" sz="800" kern="0" spc="68" dirty="0">
                <a:solidFill>
                  <a:srgbClr val="9AA8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RÉGRESSION LOGISTIQUE · RANDOM FOREST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78912" y="4439171"/>
            <a:ext cx="550738" cy="13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kern="0" spc="68" dirty="0">
                <a:solidFill>
                  <a:srgbClr val="C9A4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JUIN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01 - LE PROBLÈME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6572250" cy="70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Quand un prêt part en défaut, ce n'est pas seulement une perte financière.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536241"/>
            <a:ext cx="3929063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BOAD finance des projets de développement dans les 8 pays de l'UEMOA. Chaque crédit non remboursé, c'est une école qui ne se construit pas, une route qui reste en projet, une installation agricole qui tarde.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2410458"/>
            <a:ext cx="3929063" cy="59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Avant d'accorder un prêt, l'analyste dispose d'informations sur l'emprunteur : son revenu, le montant demandé, son historique de crédit, la garantie proposée. La question est simple 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3101839"/>
            <a:ext cx="3929063" cy="722099"/>
          </a:xfrm>
          <a:prstGeom prst="rect">
            <a:avLst/>
          </a:prstGeom>
          <a:noFill/>
          <a:ln/>
        </p:spPr>
        <p:txBody>
          <a:bodyPr wrap="square" lIns="171450" tIns="114300" rIns="171450" bIns="114300" rtlCol="0" anchor="t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1F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 Peut-on, à partir de ces données, estimer la probabilité que cet emprunteur fasse défaut ? »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4700588" y="1536241"/>
            <a:ext cx="3929063" cy="1221916"/>
          </a:xfrm>
          <a:prstGeom prst="roundRect">
            <a:avLst>
              <a:gd name="adj" fmla="val 31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0588" y="1539813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26078" y="1536241"/>
            <a:ext cx="0" cy="1221916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588" y="2754585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14875" y="1536241"/>
            <a:ext cx="0" cy="1221916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0" y="1686260"/>
            <a:ext cx="3703034" cy="13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QUE NOUS AVONS CONSTRUIT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7750" y="1850901"/>
            <a:ext cx="3703034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F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 prototype de scoring crédit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857750" y="2093788"/>
            <a:ext cx="35933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complet, de la génération des données à la recommandation opérationnelle, en passant par deux modèles comparés.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4700588" y="2886745"/>
            <a:ext cx="3929063" cy="1050466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0588" y="2890317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26078" y="2886745"/>
            <a:ext cx="0" cy="1050466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588" y="3933639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4875" y="2886745"/>
            <a:ext cx="0" cy="1050466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7750" y="3036763"/>
            <a:ext cx="3593306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POURQUOI DEUX MODÈLES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57750" y="3201405"/>
            <a:ext cx="3703034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F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Régression Logistique vs Random Forest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857750" y="3444292"/>
            <a:ext cx="3593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L'un est lisible et explicable en comité. L'autre capte les relations non linéaires sans avoir à les spécifier.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700588" y="4065798"/>
            <a:ext cx="3929063" cy="1050466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0588" y="4069370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26078" y="4065798"/>
            <a:ext cx="0" cy="1050466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0588" y="5112693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4875" y="4065798"/>
            <a:ext cx="0" cy="1050466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7750" y="4215817"/>
            <a:ext cx="3593306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 QUELLES DONNÉES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57750" y="4380458"/>
            <a:ext cx="3703034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F3A4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1 000 demandes synthétiques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4857750" y="4623346"/>
            <a:ext cx="3593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Données confidentielles oblige : nous avons généré un jeu réaliste, calqué sur les variables du scoring bancaire.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02 - LE TERRAIN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1 000 demandes de prêt, 12 variables.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07604"/>
            <a:ext cx="62865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 de données réelles, mais un échantillon synthétique construit pour ressembler à ce que la BOAD voit passer, avec les bonnes variables et des relations plausibles.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1573299"/>
            <a:ext cx="2757934" cy="2643746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576871"/>
            <a:ext cx="2757934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8712" y="1573299"/>
            <a:ext cx="0" cy="2643746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4213473"/>
            <a:ext cx="2757934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573299"/>
            <a:ext cx="0" cy="2643746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513" y="1723318"/>
            <a:ext cx="2422178" cy="151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SOCIODÉMOGRAPHIQUE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1513" y="1902247"/>
            <a:ext cx="2422178" cy="100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Âge</a:t>
            </a:r>
            <a:r>
              <a:rPr lang="en-US" sz="800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-22 à 65 ans</a:t>
            </a:r>
            <a:endParaRPr lang="en-US" sz="800" dirty="0"/>
          </a:p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Situation </a:t>
            </a: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familiale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 - célibataire, marié, divorcé</a:t>
            </a:r>
            <a:endParaRPr lang="en-US" sz="800" dirty="0"/>
          </a:p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Secteur </a:t>
            </a: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d'activité</a:t>
            </a:r>
            <a:r>
              <a:rPr lang="en-US" sz="800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 5secteurs économiques</a:t>
            </a:r>
            <a:endParaRPr lang="en-US" sz="800" dirty="0"/>
          </a:p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Garanti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oui / non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43734" y="1573299"/>
            <a:ext cx="2507233" cy="2643746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43734" y="1576871"/>
            <a:ext cx="250723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7395" y="1573299"/>
            <a:ext cx="0" cy="2643746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3734" y="4213473"/>
            <a:ext cx="250723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58021" y="1573299"/>
            <a:ext cx="0" cy="2643746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00896" y="1723318"/>
            <a:ext cx="2171477" cy="151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FINANCIÈRE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00896" y="1902247"/>
            <a:ext cx="2171477" cy="100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 </a:t>
            </a: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mensuel</a:t>
            </a:r>
            <a:r>
              <a:rPr lang="en-US" sz="800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 50k à 500k FCFA</a:t>
            </a:r>
            <a:endParaRPr lang="en-US" sz="800" dirty="0"/>
          </a:p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Montant du prêt</a:t>
            </a:r>
            <a:r>
              <a:rPr lang="en-US" sz="800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 500k à 50M FCFA</a:t>
            </a:r>
            <a:endParaRPr lang="en-US" sz="800" dirty="0"/>
          </a:p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Durée</a:t>
            </a:r>
            <a:r>
              <a:rPr lang="en-US" sz="800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6 à 120 mois</a:t>
            </a:r>
            <a:endParaRPr lang="en-US" sz="800" dirty="0"/>
          </a:p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Taux </a:t>
            </a: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d'intérêt</a:t>
            </a:r>
            <a:r>
              <a:rPr lang="en-US" sz="800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3 % à 15 %</a:t>
            </a:r>
            <a:endParaRPr lang="en-US" sz="800" dirty="0"/>
          </a:p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Ratio </a:t>
            </a: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d'endettement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calculé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2417" y="1573299"/>
            <a:ext cx="2507233" cy="2643746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22417" y="1576871"/>
            <a:ext cx="250723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26078" y="1573299"/>
            <a:ext cx="0" cy="2643746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2417" y="4213473"/>
            <a:ext cx="250723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36704" y="1573299"/>
            <a:ext cx="0" cy="2643746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9579" y="1723318"/>
            <a:ext cx="2171477" cy="151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HISTORIQUE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79579" y="1902247"/>
            <a:ext cx="2171477" cy="40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 </a:t>
            </a: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d'historique</a:t>
            </a:r>
            <a:r>
              <a:rPr lang="en-US" sz="800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300 à 850</a:t>
            </a:r>
            <a:endParaRPr lang="en-US" sz="800" dirty="0"/>
          </a:p>
          <a:p>
            <a:pPr marL="342900" indent="-342900" algn="l">
              <a:lnSpc>
                <a:spcPts val="1496"/>
              </a:lnSpc>
              <a:buSzPct val="100000"/>
              <a:buChar char="•"/>
            </a:pP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Nb d'emprunts </a:t>
            </a:r>
            <a:r>
              <a:rPr lang="en-US" sz="800" b="1" dirty="0" err="1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antérieurs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0 à 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79579" y="2414364"/>
            <a:ext cx="2171477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279579" y="2517949"/>
            <a:ext cx="2171477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VARIABLE CIBLE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79579" y="2682590"/>
            <a:ext cx="2171477" cy="4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b="1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défaut = 1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 l'emprunteur fait défaut, </a:t>
            </a:r>
            <a:r>
              <a:rPr lang="en-US" sz="800" b="1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sinon. Cible construite par un logit semi-réaliste.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4350" y="4388495"/>
            <a:ext cx="8115300" cy="354955"/>
          </a:xfrm>
          <a:prstGeom prst="roundRect">
            <a:avLst>
              <a:gd name="adj" fmla="val 10734"/>
            </a:avLst>
          </a:prstGeom>
          <a:solidFill>
            <a:srgbClr val="F1EC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23794" y="4495651"/>
            <a:ext cx="974675" cy="1285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4350" y="4388495"/>
            <a:ext cx="8115300" cy="389436"/>
          </a:xfrm>
          <a:prstGeom prst="rect">
            <a:avLst/>
          </a:prstGeom>
          <a:noFill/>
          <a:ln/>
        </p:spPr>
        <p:txBody>
          <a:bodyPr wrap="square" lIns="142875" tIns="100013" rIns="142875" bIns="100013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F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Choix méthodologique :</a:t>
            </a:r>
            <a:r>
              <a:rPr lang="en-US" sz="800" dirty="0">
                <a:solidFill>
                  <a:srgbClr val="1F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split 80/20 stratifié, StandardScaler fit uniquement sur le train, encodage one-hot avec </a:t>
            </a:r>
            <a:r>
              <a:rPr lang="en-US" sz="800" dirty="0">
                <a:solidFill>
                  <a:srgbClr val="1F3A45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drop_first=True</a:t>
            </a:r>
            <a:r>
              <a:rPr lang="en-US" sz="800" dirty="0">
                <a:solidFill>
                  <a:srgbClr val="1F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03 - LE PREMIER CONSTAT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 prêt sur quatre ne sera pas remboursé.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07604"/>
            <a:ext cx="62865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n'est pas un déséquilibre extrême, mais suffisant pour qu'une accuracy naïve de 75 % (tout prédire « bon ») soit un faux-ami.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7922" y="1923678"/>
            <a:ext cx="3921919" cy="2440818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home/z/my-project/download/slides/fig1_distribution_c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012975"/>
            <a:ext cx="3743213" cy="22622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04159" y="1825005"/>
            <a:ext cx="1893094" cy="110929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79181" y="2000027"/>
            <a:ext cx="154305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</a:t>
            </a:r>
            <a:r>
              <a:rPr lang="en-US" sz="1800" b="1" dirty="0">
                <a:solidFill>
                  <a:srgbClr val="B0884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%</a:t>
            </a:r>
            <a:endParaRPr lang="en-US" sz="3038" dirty="0"/>
          </a:p>
        </p:txBody>
      </p:sp>
      <p:sp>
        <p:nvSpPr>
          <p:cNvPr id="10" name="Text 7"/>
          <p:cNvSpPr/>
          <p:nvPr/>
        </p:nvSpPr>
        <p:spPr>
          <a:xfrm>
            <a:off x="4879181" y="2442939"/>
            <a:ext cx="1543050" cy="14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133"/>
              </a:lnSpc>
              <a:buNone/>
            </a:pPr>
            <a:r>
              <a:rPr lang="en-US" sz="800" kern="0" spc="37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BONS REMBOURSEMENTS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79181" y="2615394"/>
            <a:ext cx="1543050" cy="14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33"/>
              </a:lnSpc>
              <a:buNone/>
            </a:pPr>
            <a:r>
              <a:rPr lang="en-US" sz="800" dirty="0">
                <a:solidFill>
                  <a:srgbClr val="5A68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750 demandes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732984" y="1825005"/>
            <a:ext cx="1893094" cy="1109290"/>
          </a:xfrm>
          <a:prstGeom prst="roundRect">
            <a:avLst>
              <a:gd name="adj" fmla="val 3435"/>
            </a:avLst>
          </a:prstGeom>
          <a:solidFill>
            <a:srgbClr val="F1ECDC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08006" y="2000027"/>
            <a:ext cx="1543050" cy="415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B23A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r>
              <a:rPr lang="en-US" sz="1800" b="1" dirty="0">
                <a:solidFill>
                  <a:srgbClr val="B23A4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%</a:t>
            </a:r>
            <a:endParaRPr lang="en-US" sz="3038" dirty="0"/>
          </a:p>
        </p:txBody>
      </p:sp>
      <p:sp>
        <p:nvSpPr>
          <p:cNvPr id="14" name="Text 11"/>
          <p:cNvSpPr/>
          <p:nvPr/>
        </p:nvSpPr>
        <p:spPr>
          <a:xfrm>
            <a:off x="6908006" y="2442939"/>
            <a:ext cx="1543050" cy="145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133"/>
              </a:lnSpc>
              <a:buNone/>
            </a:pPr>
            <a:r>
              <a:rPr lang="en-US" sz="800" kern="0" spc="37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DÉFAUTS DE PAIEMENT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908006" y="2615394"/>
            <a:ext cx="1543050" cy="14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33"/>
              </a:lnSpc>
              <a:buNone/>
            </a:pPr>
            <a:r>
              <a:rPr lang="en-US" sz="800" dirty="0">
                <a:solidFill>
                  <a:srgbClr val="5A687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 demandes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00588" y="3066455"/>
            <a:ext cx="3929063" cy="1400175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700588" y="3070027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26078" y="3066455"/>
            <a:ext cx="0" cy="1400175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0588" y="4463058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14875" y="3066455"/>
            <a:ext cx="0" cy="1400175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57750" y="3216473"/>
            <a:ext cx="3703034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F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que ça change pour la suite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4857750" y="3459361"/>
            <a:ext cx="359330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 200 observations de test, il y a environ 50 défaillants à identifier. Une accuracy de 91 % ne veut rien dire si elle cache un rappel de 30 % sur la classe qui nous intéresse vraiment. Nous regarderons donc systématiquement le rappel, pas seulement l'accuracy.</a:t>
            </a:r>
            <a:endParaRPr lang="en-US" sz="844" dirty="0"/>
          </a:p>
        </p:txBody>
      </p:sp>
      <p:sp>
        <p:nvSpPr>
          <p:cNvPr id="23" name="Text 20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04 - LE PROFIL DES DÉFAILLANTS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Les mauvais payeurs se distinguent déjà, avant tout modèle.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07604"/>
            <a:ext cx="62865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Quatre boxplots suffisent à raconter l'essentiel : les profils des défaillants sont visiblement différents de ceux des bons payeurs.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7922" y="1519721"/>
            <a:ext cx="8108156" cy="2650889"/>
          </a:xfrm>
          <a:prstGeom prst="roundRect">
            <a:avLst>
              <a:gd name="adj" fmla="val 1437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home/z/my-project/download/slides/fig3_boxplots_defa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609018"/>
            <a:ext cx="7929563" cy="2472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4306342"/>
            <a:ext cx="1946672" cy="656332"/>
          </a:xfrm>
          <a:prstGeom prst="roundRect">
            <a:avLst>
              <a:gd name="adj" fmla="val 5805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1506" y="4409926"/>
            <a:ext cx="173950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kern="0" spc="10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 MENSUEL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506" y="4549229"/>
            <a:ext cx="184387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Plus faible</a:t>
            </a:r>
            <a:r>
              <a:rPr lang="en-US" sz="800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chez les défaillants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571750" y="4306342"/>
            <a:ext cx="1946672" cy="656332"/>
          </a:xfrm>
          <a:prstGeom prst="roundRect">
            <a:avLst>
              <a:gd name="adj" fmla="val 5805"/>
            </a:avLst>
          </a:prstGeom>
          <a:solidFill>
            <a:srgbClr val="F1ECDC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675334" y="4409926"/>
            <a:ext cx="173950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kern="0" spc="10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RATIO D'ENDETTEMENT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75334" y="4549229"/>
            <a:ext cx="173950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B2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Nettement plus élevé</a:t>
            </a:r>
            <a:r>
              <a:rPr lang="en-US" sz="800" dirty="0">
                <a:solidFill>
                  <a:srgbClr val="B2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écart marqué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25578" y="4306342"/>
            <a:ext cx="1946672" cy="656332"/>
          </a:xfrm>
          <a:prstGeom prst="roundRect">
            <a:avLst>
              <a:gd name="adj" fmla="val 5805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29163" y="4409926"/>
            <a:ext cx="173950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kern="0" spc="10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 D'HISTORIQUE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29163" y="4549229"/>
            <a:ext cx="1739503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Plus bas</a:t>
            </a:r>
            <a:r>
              <a:rPr lang="en-US" sz="800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 médiane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679406" y="4306342"/>
            <a:ext cx="1946672" cy="656332"/>
          </a:xfrm>
          <a:prstGeom prst="roundRect">
            <a:avLst>
              <a:gd name="adj" fmla="val 5805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2991" y="4409926"/>
            <a:ext cx="173950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kern="0" spc="10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MONTANT DU PRÊT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82991" y="4563517"/>
            <a:ext cx="151005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Légèrement plus élevé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05 - LES VARIABLES CATÉGORIELLES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Garantie, secteur, situation : des signaux, pas des certitudes.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07604"/>
            <a:ext cx="628650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écarts existent, mais ils restent modérés. À garder en tête pour la suite.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7922" y="2339132"/>
            <a:ext cx="3921919" cy="1398389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home/z/my-project/download/slides/fig4_taux_defaut_categoriel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30" y="2428429"/>
            <a:ext cx="3742990" cy="1219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00588" y="1585578"/>
            <a:ext cx="3929063" cy="848544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700588" y="1589150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26078" y="1585578"/>
            <a:ext cx="0" cy="848544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0588" y="2430549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14875" y="1585578"/>
            <a:ext cx="0" cy="848544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57750" y="1735596"/>
            <a:ext cx="359330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B2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Absence de garantie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4857750" y="1964196"/>
            <a:ext cx="3593306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signal le plus net. Les prêts sans garantie présentent un taux de défaut sensiblement plus élevé. À croiser avec le ratio d'endettement.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00588" y="2534134"/>
            <a:ext cx="3929063" cy="1008497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0588" y="2537706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2534134"/>
            <a:ext cx="0" cy="1008497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0588" y="3539058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14875" y="2534134"/>
            <a:ext cx="0" cy="1008497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0" y="2684152"/>
            <a:ext cx="359330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F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Secteur d'activité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4857750" y="2912752"/>
            <a:ext cx="3593306" cy="4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Agriculture et BTP ressortent au-dessus des services. Cohérent avec la sensibilité de ces secteurs aux aléas climatiques et aux cycles économiques.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00588" y="3642643"/>
            <a:ext cx="3929063" cy="848544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0588" y="3646215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26078" y="3642643"/>
            <a:ext cx="0" cy="848544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0588" y="4487614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14875" y="3642643"/>
            <a:ext cx="0" cy="848544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792662"/>
            <a:ext cx="359330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F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Situation familiale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4857750" y="4021262"/>
            <a:ext cx="3593306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Écarts faibles, à manier avec prudence. Le nombre d'observations par modalité limite la portée statistique.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06 - AVANT LA MODÉLISATION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Pas de variable qui écrase les autres.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07604"/>
            <a:ext cx="62865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matrice de corrélation rassure : aucune multicolinéarité préoccupante. Toutes les variables peuvent entrer dans le modèle.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7922" y="1697422"/>
            <a:ext cx="3921919" cy="2893219"/>
          </a:xfrm>
          <a:prstGeom prst="roundRect">
            <a:avLst>
              <a:gd name="adj" fmla="val 1317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home/z/my-project/download/slides/fig5_matric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09" y="1786719"/>
            <a:ext cx="3042345" cy="27146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00588" y="1661257"/>
            <a:ext cx="3929063" cy="1150479"/>
          </a:xfrm>
          <a:prstGeom prst="roundRect">
            <a:avLst>
              <a:gd name="adj" fmla="val 33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700588" y="1664829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26078" y="1661257"/>
            <a:ext cx="0" cy="1150479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0588" y="2808163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14875" y="1661257"/>
            <a:ext cx="0" cy="1150479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57750" y="1811275"/>
            <a:ext cx="3593306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À RETENIR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57750" y="1975917"/>
            <a:ext cx="35933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montant du prêt et la durée sont liés (les gros prêts durent plus longtemps), ce qui est attendu. Le ratio d'endettement est mécaniquement lié à ses composantes. Aucune corrélation supérieure à 0,8 entre variables explicatives distinctes.</a:t>
            </a:r>
            <a:endParaRPr lang="en-US" sz="844" dirty="0"/>
          </a:p>
        </p:txBody>
      </p:sp>
      <p:sp>
        <p:nvSpPr>
          <p:cNvPr id="15" name="Text 12"/>
          <p:cNvSpPr/>
          <p:nvPr/>
        </p:nvSpPr>
        <p:spPr>
          <a:xfrm>
            <a:off x="4700588" y="2911748"/>
            <a:ext cx="3929063" cy="807579"/>
          </a:xfrm>
          <a:prstGeom prst="roundRect">
            <a:avLst>
              <a:gd name="adj" fmla="val 47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0588" y="2915320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2911748"/>
            <a:ext cx="0" cy="807579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0588" y="3715755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14875" y="2911748"/>
            <a:ext cx="0" cy="807579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0" y="3061767"/>
            <a:ext cx="3593306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CONSÉQUENCE PRATIQUE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57750" y="3226408"/>
            <a:ext cx="3593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régression logistique, sensible à la colinéarité, pourra travailler sur l'ensemble des variables sans instabilité numérique.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4704159" y="3822911"/>
            <a:ext cx="3921919" cy="800435"/>
          </a:xfrm>
          <a:prstGeom prst="roundRect">
            <a:avLst>
              <a:gd name="adj" fmla="val 4760"/>
            </a:avLst>
          </a:prstGeom>
          <a:solidFill>
            <a:srgbClr val="0F2027"/>
          </a:solidFill>
          <a:ln w="7144">
            <a:solidFill>
              <a:srgbClr val="0F202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79181" y="3969358"/>
            <a:ext cx="3571875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C9A4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79181" y="4133999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données sont propres. Les signaux existent. Place aux modèles.</a:t>
            </a:r>
            <a:endParaRPr lang="en-US" sz="844" dirty="0"/>
          </a:p>
        </p:txBody>
      </p:sp>
      <p:sp>
        <p:nvSpPr>
          <p:cNvPr id="25" name="Text 22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84324"/>
            <a:ext cx="862965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C9A4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07 - LA MODÉLISATION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77553"/>
            <a:ext cx="6429375" cy="1086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Deux modèles, deux philosophies, un match.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21494" y="2147590"/>
            <a:ext cx="3714750" cy="1927250"/>
          </a:xfrm>
          <a:prstGeom prst="roundRect">
            <a:avLst>
              <a:gd name="adj" fmla="val 1977"/>
            </a:avLst>
          </a:prstGeom>
          <a:solidFill>
            <a:srgbClr val="FFFFFF">
              <a:alpha val="4000"/>
            </a:srgbClr>
          </a:solidFill>
          <a:ln w="14288">
            <a:solidFill>
              <a:srgbClr val="C9A45C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2326184"/>
            <a:ext cx="3357563" cy="1657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C9A4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MODÈLE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0088" y="2519400"/>
            <a:ext cx="3357563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Régression Logistique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700088" y="2859398"/>
            <a:ext cx="33575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E8E2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Linéaire, lisible, explicable. Chaque coefficient s'interprète directement : « toutes choses égales par ailleurs, un revenu de 10 000 FCFA supplémentaire réduit le log-odds de défaut de X ».</a:t>
            </a:r>
            <a:endParaRPr lang="en-US" sz="844" dirty="0"/>
          </a:p>
        </p:txBody>
      </p:sp>
      <p:sp>
        <p:nvSpPr>
          <p:cNvPr id="9" name="Shape 7"/>
          <p:cNvSpPr/>
          <p:nvPr/>
        </p:nvSpPr>
        <p:spPr>
          <a:xfrm>
            <a:off x="700088" y="3648782"/>
            <a:ext cx="3357563" cy="0"/>
          </a:xfrm>
          <a:prstGeom prst="line">
            <a:avLst/>
          </a:prstGeom>
          <a:noFill/>
          <a:ln w="7144">
            <a:solidFill>
              <a:srgbClr val="C9A4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088" y="3645210"/>
            <a:ext cx="3357563" cy="251036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C9A4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max_iter = 1000 · random_state = 42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07706" y="2147590"/>
            <a:ext cx="3714750" cy="1927250"/>
          </a:xfrm>
          <a:prstGeom prst="roundRect">
            <a:avLst>
              <a:gd name="adj" fmla="val 1977"/>
            </a:avLst>
          </a:prstGeom>
          <a:solidFill>
            <a:srgbClr val="FFFFFF">
              <a:alpha val="4000"/>
            </a:srgbClr>
          </a:solidFill>
          <a:ln w="14288">
            <a:solidFill>
              <a:srgbClr val="C9A45C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86300" y="2326184"/>
            <a:ext cx="3357562" cy="1657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C9A4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MODÈLE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86300" y="2519400"/>
            <a:ext cx="3357562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Forest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4686300" y="2859398"/>
            <a:ext cx="3357563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E8E2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 arbres de décision, profondeur limitée à 10. Capte les interactions et les non-linéarités sans qu'on ait à les spécifier. Boîte noire, mais robuste.</a:t>
            </a:r>
            <a:endParaRPr lang="en-US" sz="844" dirty="0"/>
          </a:p>
        </p:txBody>
      </p:sp>
      <p:sp>
        <p:nvSpPr>
          <p:cNvPr id="15" name="Shape 13"/>
          <p:cNvSpPr/>
          <p:nvPr/>
        </p:nvSpPr>
        <p:spPr>
          <a:xfrm>
            <a:off x="4686300" y="3477332"/>
            <a:ext cx="3357563" cy="0"/>
          </a:xfrm>
          <a:prstGeom prst="line">
            <a:avLst/>
          </a:prstGeom>
          <a:noFill/>
          <a:ln w="7144">
            <a:solidFill>
              <a:srgbClr val="C9A4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6300" y="3473760"/>
            <a:ext cx="3357563" cy="296609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C9A4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n_estimators = 100 · max_depth = 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4350" y="4339158"/>
            <a:ext cx="6286500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AA8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Même split train/test. Mêmes variables. Mêmes métriques d'évaluation : accuracy, précision, rappel, F1, et surtout AUC-ROC, qui mesure la capacité à classer un défaillant au-dessus d'un bon payeur.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FFFFFF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— BOAD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08 - RÉSULTAT 1 · RÉGRESSION LOGISTIQUE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 « simple » modèle surprend tout le monde.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07604"/>
            <a:ext cx="657225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 de 91,5 %. AUC de 0,972. Sur 50 défaillants réels, 38 sont détectés, avec seulement 5 faux positifs.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7922" y="1336886"/>
            <a:ext cx="3964781" cy="1893094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home/z/my-project/download/slides/fig6_confusion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204" y="1426183"/>
            <a:ext cx="2382106" cy="1714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3337136"/>
            <a:ext cx="942975" cy="518592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2931" y="3412145"/>
            <a:ext cx="792956" cy="2304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918"/>
              </a:lnSpc>
              <a:buNone/>
            </a:pPr>
            <a:r>
              <a:rPr lang="en-US" sz="1238" b="1" dirty="0">
                <a:solidFill>
                  <a:srgbClr val="2F7D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145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592931" y="3669990"/>
            <a:ext cx="792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2"/>
              </a:lnSpc>
              <a:buNone/>
            </a:pPr>
            <a:r>
              <a:rPr lang="en-US" sz="800" kern="0" spc="28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VRAIS NÉG.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25191" y="3337136"/>
            <a:ext cx="942975" cy="518592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600200" y="3412145"/>
            <a:ext cx="792956" cy="2304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918"/>
              </a:lnSpc>
              <a:buNone/>
            </a:pPr>
            <a:r>
              <a:rPr lang="en-US" sz="1238" b="1" dirty="0">
                <a:solidFill>
                  <a:srgbClr val="B23A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38" dirty="0"/>
          </a:p>
        </p:txBody>
      </p:sp>
      <p:sp>
        <p:nvSpPr>
          <p:cNvPr id="13" name="Text 10"/>
          <p:cNvSpPr/>
          <p:nvPr/>
        </p:nvSpPr>
        <p:spPr>
          <a:xfrm>
            <a:off x="1600200" y="3669990"/>
            <a:ext cx="792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2"/>
              </a:lnSpc>
              <a:buNone/>
            </a:pPr>
            <a:r>
              <a:rPr lang="en-US" sz="800" kern="0" spc="28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FAUX POS.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32459" y="3337136"/>
            <a:ext cx="942975" cy="518592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607469" y="3412145"/>
            <a:ext cx="792956" cy="2304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918"/>
              </a:lnSpc>
              <a:buNone/>
            </a:pPr>
            <a:r>
              <a:rPr lang="en-US" sz="1238" b="1" dirty="0">
                <a:solidFill>
                  <a:srgbClr val="B23A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2607469" y="3669990"/>
            <a:ext cx="792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2"/>
              </a:lnSpc>
              <a:buNone/>
            </a:pPr>
            <a:r>
              <a:rPr lang="en-US" sz="800" kern="0" spc="28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FAUX NÉG.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539728" y="3337136"/>
            <a:ext cx="942975" cy="518592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614738" y="3412145"/>
            <a:ext cx="792956" cy="2304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918"/>
              </a:lnSpc>
              <a:buNone/>
            </a:pPr>
            <a:r>
              <a:rPr lang="en-US" sz="1238" b="1" dirty="0">
                <a:solidFill>
                  <a:srgbClr val="2F7D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3614738" y="3669990"/>
            <a:ext cx="792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72"/>
              </a:lnSpc>
              <a:buNone/>
            </a:pPr>
            <a:r>
              <a:rPr lang="en-US" sz="800" kern="0" spc="28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VRAIS POS.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61297" y="1336886"/>
            <a:ext cx="3964781" cy="1893094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/home/z/my-project/download/slides/fig7_roc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904" y="1426183"/>
            <a:ext cx="2385454" cy="17145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57725" y="3333564"/>
            <a:ext cx="3971925" cy="1104491"/>
          </a:xfrm>
          <a:prstGeom prst="roundRect">
            <a:avLst>
              <a:gd name="adj" fmla="val 34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4657725" y="3337136"/>
            <a:ext cx="3971925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626078" y="3333564"/>
            <a:ext cx="0" cy="1104491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657725" y="4434483"/>
            <a:ext cx="3971925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72013" y="3333564"/>
            <a:ext cx="0" cy="1104491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14888" y="3483583"/>
            <a:ext cx="3636169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 DE L'AUC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814888" y="3648224"/>
            <a:ext cx="363616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AUC = 0,972 signifie que si l'on prend un pair (un défaillant, un non-défaillant), le modèle attribue une probabilité plus élevée au défaillant dans </a:t>
            </a:r>
            <a:r>
              <a:rPr lang="en-US" sz="800" b="1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97 % des cas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C'est élevé — partiellement expliqué par la nature contrôlée du logit qui a généré la cible.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6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09 - RÉSULTAT 2 · RANDOM FOREST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Solide, mais un cran en dessous sur l'AUC.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07604"/>
            <a:ext cx="657225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Même accuracy (91,5 %), un défaillant de plus détecté (rappel 78 %), mais AUC plus basse (0,959). Le match est serré.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7922" y="1505434"/>
            <a:ext cx="3603687" cy="1750219"/>
          </a:xfrm>
          <a:prstGeom prst="roundRect">
            <a:avLst>
              <a:gd name="adj" fmla="val 2177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/home/z/my-project/download/slides/fig9_confusion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944" y="1594731"/>
            <a:ext cx="2183643" cy="15716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3348521"/>
            <a:ext cx="3603687" cy="1033053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1506" y="3452106"/>
            <a:ext cx="3506246" cy="151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COMPARAISON RAPIDE AVEC LA RL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506" y="3631034"/>
            <a:ext cx="1745609" cy="1164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Vrais positifs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3774914"/>
            <a:ext cx="22609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0F20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 </a:t>
            </a:r>
            <a:r>
              <a:rPr lang="en-US" sz="800" b="1" dirty="0">
                <a:solidFill>
                  <a:srgbClr val="2F7D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(+1)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355428" y="3631034"/>
            <a:ext cx="1662596" cy="1164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Faux négatifs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355428" y="3774914"/>
            <a:ext cx="1662596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0F20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</a:t>
            </a:r>
            <a:r>
              <a:rPr lang="en-US" sz="800" b="1" dirty="0">
                <a:solidFill>
                  <a:srgbClr val="2F7D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(−1)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1506" y="3990231"/>
            <a:ext cx="2626726" cy="1164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AUC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1506" y="4134110"/>
            <a:ext cx="1745609" cy="14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0F20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0,959 </a:t>
            </a:r>
            <a:r>
              <a:rPr lang="en-US" sz="800" b="1" dirty="0">
                <a:solidFill>
                  <a:srgbClr val="B23A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(−0,013)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355428" y="3990231"/>
            <a:ext cx="1662596" cy="1164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Précision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355428" y="4134110"/>
            <a:ext cx="1662596" cy="14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0F202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0,867 </a:t>
            </a:r>
            <a:r>
              <a:rPr lang="en-US" sz="800" b="1" dirty="0">
                <a:solidFill>
                  <a:srgbClr val="B23A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(−0,017)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00203" y="1505434"/>
            <a:ext cx="4325875" cy="1893094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/home/z/my-project/download/slides/fig8_importance_variables_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182" y="1594731"/>
            <a:ext cx="2437916" cy="17145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96631" y="3487824"/>
            <a:ext cx="4333019" cy="944538"/>
          </a:xfrm>
          <a:prstGeom prst="roundRect">
            <a:avLst>
              <a:gd name="adj" fmla="val 4034"/>
            </a:avLst>
          </a:prstGeom>
          <a:solidFill>
            <a:srgbClr val="F1ECD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4296631" y="3491396"/>
            <a:ext cx="4333019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26078" y="3487824"/>
            <a:ext cx="0" cy="944538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96631" y="4428790"/>
            <a:ext cx="4333019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10918" y="3487824"/>
            <a:ext cx="0" cy="944538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53793" y="3637843"/>
            <a:ext cx="3997263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FAIT MARQUANT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453793" y="3802484"/>
            <a:ext cx="3997263" cy="4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</a:t>
            </a: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ratio d'endettement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capte à lui seul </a:t>
            </a:r>
            <a:r>
              <a:rPr lang="en-US" sz="800" b="1" dirty="0">
                <a:solidFill>
                  <a:srgbClr val="1A25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41 %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 l'importance totale. Vient ensuite un peloton très serré (durée, revenu, montant) autour de 11–12 %, puis le score d'historique à 7 %.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10 - LE MATCH EN UN TABLEAU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La régression logistique gagne par décision.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07604"/>
            <a:ext cx="657225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Même accuracy, mais meilleure AUC, meilleure précision, et surtout : interprétabilité directe pour les équipes risque.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501862"/>
          <a:ext cx="3929062" cy="1760226"/>
        </p:xfrm>
        <a:graphic>
          <a:graphicData uri="http://schemas.openxmlformats.org/drawingml/2006/table">
            <a:tbl>
              <a:tblPr/>
              <a:tblGrid>
                <a:gridCol w="153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Métrique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Régression Log.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 Forest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Accuracy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0,915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0,915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Précision (cl. 1) RL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0,884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0,867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Rappel (cl. 1) RF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0,760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0,780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F1-Score (cl. 1)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0,817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0,821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AUC-ROC RL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0,972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0,959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14350" y="3391160"/>
            <a:ext cx="3929063" cy="1018766"/>
          </a:xfrm>
          <a:prstGeom prst="roundRect">
            <a:avLst>
              <a:gd name="adj" fmla="val 37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3394732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39841" y="3391160"/>
            <a:ext cx="0" cy="1018766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4406354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3391160"/>
            <a:ext cx="0" cy="1018766"/>
          </a:xfrm>
          <a:prstGeom prst="line">
            <a:avLst/>
          </a:prstGeom>
          <a:noFill/>
          <a:ln w="28575">
            <a:solidFill>
              <a:srgbClr val="C9A45C"/>
            </a:solidFill>
            <a:prstDash val="solid"/>
          </a:ln>
        </p:spPr>
      </p:sp>
      <p:sp>
        <p:nvSpPr>
          <p:cNvPr id="6" name="Text 9"/>
          <p:cNvSpPr/>
          <p:nvPr/>
        </p:nvSpPr>
        <p:spPr>
          <a:xfrm>
            <a:off x="642938" y="3498317"/>
            <a:ext cx="3693319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POURQUOI LA RL GAGNE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2938" y="3662958"/>
            <a:ext cx="369331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logit qui a généré la cible est une combinaison </a:t>
            </a:r>
            <a:r>
              <a:rPr lang="en-US" sz="800" b="1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linéaire</a:t>
            </a: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 variables. La régression logistique est précisément faite pour apprendre ce type de relation. Sur des données réelles, plus bruitées et interagies, l'écart pourrait s'inverser. D'où l'intérêt de conserver les deux modèles.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04159" y="1505434"/>
            <a:ext cx="3921919" cy="2893219"/>
          </a:xfrm>
          <a:prstGeom prst="roundRect">
            <a:avLst>
              <a:gd name="adj" fmla="val 1317"/>
            </a:avLst>
          </a:prstGeom>
          <a:solidFill>
            <a:srgbClr val="FFFFFF"/>
          </a:solidFill>
          <a:ln w="7144">
            <a:solidFill>
              <a:srgbClr val="D8CFB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/home/z/my-project/download/slides/fig11_roc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54" y="1594731"/>
            <a:ext cx="3603129" cy="27146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CRÉDIT - BOAD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11 - CE QUE LA BOAD PEUT EN TIRER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21841"/>
            <a:ext cx="81153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b="1" kern="0" spc="-11" dirty="0">
                <a:solidFill>
                  <a:srgbClr val="0F202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Cinq recommandations, trois limites assumées.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14350" y="1079041"/>
            <a:ext cx="4125516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B088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recommandations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14350" y="1364791"/>
            <a:ext cx="228600" cy="228600"/>
          </a:xfrm>
          <a:prstGeom prst="ellipse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364791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2963" y="1364791"/>
            <a:ext cx="36004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Adopter la régression logistique</a:t>
            </a:r>
            <a:r>
              <a:rPr lang="en-US" sz="9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comme modèle principal. Meilleure AUC, meilleure précision, interprétabilité directe. Conserver le Random Forest en contrepoint.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350" y="1979154"/>
            <a:ext cx="228600" cy="228600"/>
          </a:xfrm>
          <a:prstGeom prst="ellipse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1979154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2963" y="1979154"/>
            <a:ext cx="36004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Surveiller le ratio d'endettement</a:t>
            </a:r>
            <a:r>
              <a:rPr lang="en-US" sz="9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 priorité. Fixer un seuil maximum (33 à 40 % du revenu mensuel est un standard courant).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2593516"/>
            <a:ext cx="228600" cy="228600"/>
          </a:xfrm>
          <a:prstGeom prst="ellipse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2593516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2963" y="2593516"/>
            <a:ext cx="360045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Exiger une garantie</a:t>
            </a:r>
            <a:r>
              <a:rPr lang="en-US" sz="9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pour les dossiers à risque élevé, en particulier dans les secteurs sensibles (agriculture, BTP).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4350" y="3036429"/>
            <a:ext cx="228600" cy="228600"/>
          </a:xfrm>
          <a:prstGeom prst="ellipse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3036429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2963" y="3036429"/>
            <a:ext cx="36004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Construire une base d'historique de crédit</a:t>
            </a:r>
            <a:r>
              <a:rPr lang="en-US" sz="9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régionale partagée entre pays UEMOA. Le prédicteur le plus puissant n'existe pas encore dans nos données.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3650791"/>
            <a:ext cx="228600" cy="228600"/>
          </a:xfrm>
          <a:prstGeom prst="ellipse">
            <a:avLst/>
          </a:prstGeom>
          <a:solidFill>
            <a:srgbClr val="C9A4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350" y="3650791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2963" y="3650791"/>
            <a:ext cx="360045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20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Mettre en place un suivi post-octroi</a:t>
            </a:r>
            <a:r>
              <a:rPr lang="en-US" sz="9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trimestriel des dossiers à risque, avec alertes précoces dès le premier incident.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0588" y="1079041"/>
            <a:ext cx="4243388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limites à garder en tête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700588" y="1364791"/>
            <a:ext cx="3929063" cy="784585"/>
          </a:xfrm>
          <a:prstGeom prst="roundRect">
            <a:avLst>
              <a:gd name="adj" fmla="val 48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00588" y="1368363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26078" y="1364791"/>
            <a:ext cx="0" cy="784585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0588" y="2145804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4875" y="1364791"/>
            <a:ext cx="0" cy="784585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7750" y="1514810"/>
            <a:ext cx="3593306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2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DONNÉES SYNTHÉTIQUES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57750" y="1679451"/>
            <a:ext cx="3593306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portefeuille réel de la BOAD est plus complexe. Une validation sur données anonymisées est indispensable avant tout déploiement.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0588" y="2235101"/>
            <a:ext cx="3929063" cy="784585"/>
          </a:xfrm>
          <a:prstGeom prst="roundRect">
            <a:avLst>
              <a:gd name="adj" fmla="val 48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00588" y="2238673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26078" y="2235101"/>
            <a:ext cx="0" cy="784585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0588" y="3016114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14875" y="2235101"/>
            <a:ext cx="0" cy="784585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7750" y="2385120"/>
            <a:ext cx="3593306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2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 DE VALIDATION CROISÉE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57750" y="2549761"/>
            <a:ext cx="3593306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 seul split 80/20. L'incertitude sur l'accuracy est de ±2 points. Une 5-fold stratifiée est la prochaine étape obligatoire.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00588" y="3105410"/>
            <a:ext cx="3929063" cy="784585"/>
          </a:xfrm>
          <a:prstGeom prst="roundRect">
            <a:avLst>
              <a:gd name="adj" fmla="val 48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700588" y="3108982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26078" y="3105410"/>
            <a:ext cx="0" cy="784585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0588" y="3886423"/>
            <a:ext cx="3929063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14875" y="3105410"/>
            <a:ext cx="0" cy="784585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7750" y="3255429"/>
            <a:ext cx="3593306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B2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DÉSÉQUILIBRE NON TRAITÉ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57750" y="3420070"/>
            <a:ext cx="3593306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1A25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25 % de défauts est modéré. Si le taux réel est plus faible (5–10 %), il faudra recourir à SMOTE ou à un pondération des classes.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00588" y="4018583"/>
            <a:ext cx="3929063" cy="628985"/>
          </a:xfrm>
          <a:prstGeom prst="roundRect">
            <a:avLst>
              <a:gd name="adj" fmla="val 6057"/>
            </a:avLst>
          </a:prstGeom>
          <a:solidFill>
            <a:srgbClr val="0F20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29175" y="4118595"/>
            <a:ext cx="3671888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111" dirty="0">
                <a:solidFill>
                  <a:srgbClr val="C9A4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PROCHAINES ÉTAPES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29175" y="4268949"/>
            <a:ext cx="36718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Reproduire sur données réelles · ajouter XGBoost · dashboard pour les analystes · suivi de la dérive du modèle dans le temps.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814553"/>
            <a:ext cx="9144000" cy="328947"/>
          </a:xfrm>
          <a:prstGeom prst="rect">
            <a:avLst/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0" y="4818125"/>
            <a:ext cx="9144000" cy="0"/>
          </a:xfrm>
          <a:prstGeom prst="line">
            <a:avLst/>
          </a:prstGeom>
          <a:noFill/>
          <a:ln w="7144">
            <a:solidFill>
              <a:srgbClr val="D8CF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4350" y="4921709"/>
            <a:ext cx="7754875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SCORING </a:t>
            </a:r>
            <a:r>
              <a:rPr lang="en-US" sz="800" kern="0" spc="5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CRÉDIT - </a:t>
            </a:r>
            <a:r>
              <a:rPr lang="en-US" sz="800" kern="0" spc="50" dirty="0">
                <a:solidFill>
                  <a:srgbClr val="5A68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BOAD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83513" y="4921709"/>
            <a:ext cx="3461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kern="0" spc="50" dirty="0">
                <a:solidFill>
                  <a:srgbClr val="B088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1645</Words>
  <Application>Microsoft Office PowerPoint</Application>
  <PresentationFormat>Affichage à l'écran (16:9)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Carlito</vt:lpstr>
      <vt:lpstr>Courier New</vt:lpstr>
      <vt:lpstr>Liberation Sans Narrow</vt:lpstr>
      <vt:lpstr>Tinos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Scoring Crédit — BOAD</dc:title>
  <dc:subject>Prédiction du risque de défaut de paiement</dc:subject>
  <dc:creator>AKOTA Yao Jérôme</dc:creator>
  <cp:keywords>scoring crédit; machine learning; BOAD; UEMOA; régression logistique; random forest</cp:keywords>
  <dc:description>Rapport de projet Data Science — Juin 2026</dc:description>
  <cp:lastModifiedBy>jerome AKOTA</cp:lastModifiedBy>
  <cp:revision>3</cp:revision>
  <dcterms:created xsi:type="dcterms:W3CDTF">2026-06-30T04:19:03Z</dcterms:created>
  <dcterms:modified xsi:type="dcterms:W3CDTF">2026-06-30T09:09:31Z</dcterms:modified>
</cp:coreProperties>
</file>